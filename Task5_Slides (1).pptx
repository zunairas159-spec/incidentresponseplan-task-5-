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0" d="100"/>
          <a:sy n="80" d="100"/>
        </p:scale>
        <p:origin x="48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489880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2011680"/>
            <a:ext cx="6400800" cy="6400800"/>
          </a:xfrm>
          <a:prstGeom prst="ellipse">
            <a:avLst/>
          </a:prstGeom>
          <a:solidFill>
            <a:srgbClr val="3E5C76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241280" y="4206240"/>
            <a:ext cx="3657600" cy="3657600"/>
          </a:xfrm>
          <a:prstGeom prst="ellipse">
            <a:avLst/>
          </a:prstGeom>
          <a:solidFill>
            <a:srgbClr val="D64545">
              <a:alpha val="25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2331720"/>
            <a:ext cx="8778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Cyber Incident Response Plan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33375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5 — Internee.pk Cybersecurity Internship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6172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AA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Zunaira Shahzad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3000"/>
              </a:lnSpc>
              <a:buNone/>
            </a:pPr>
            <a:r>
              <a:rPr lang="en-US" sz="1300" b="1" dirty="0">
                <a:solidFill>
                  <a:srgbClr val="D64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1</a:t>
            </a:r>
            <a:endParaRPr lang="en-US" sz="1300" dirty="0"/>
          </a:p>
          <a:p>
            <a:pPr marL="0" indent="0">
              <a:lnSpc>
                <a:spcPts val="3000"/>
              </a:lnSpc>
              <a:buNone/>
            </a:pPr>
            <a:r>
              <a:rPr lang="en-US" sz="3000" b="1" dirty="0">
                <a:solidFill>
                  <a:srgbClr val="2226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Incident Response Framework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344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on the widely adopted NIST 6-Phase Incident Response Model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352044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E2E5EA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2167128"/>
            <a:ext cx="457200" cy="457200"/>
          </a:xfrm>
          <a:prstGeom prst="ellipse">
            <a:avLst/>
          </a:prstGeom>
          <a:solidFill>
            <a:srgbClr val="3E5C7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49808" y="21671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325880" y="2167128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22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Preparation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749808" y="2743200"/>
            <a:ext cx="311810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Tools, policies &amp; training in place before an incident occurs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25112" y="1965960"/>
            <a:ext cx="352044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E2E5EA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26280" y="2167128"/>
            <a:ext cx="457200" cy="457200"/>
          </a:xfrm>
          <a:prstGeom prst="ellipse">
            <a:avLst/>
          </a:prstGeom>
          <a:solidFill>
            <a:srgbClr val="3E5C7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526280" y="21671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5102352" y="2167128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22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&amp; Analysis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4526280" y="2743200"/>
            <a:ext cx="311810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Noticing something's wrong and confirming it's a real incident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101584" y="1965960"/>
            <a:ext cx="352044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E2E5EA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302752" y="2167128"/>
            <a:ext cx="457200" cy="457200"/>
          </a:xfrm>
          <a:prstGeom prst="ellipse">
            <a:avLst/>
          </a:prstGeom>
          <a:solidFill>
            <a:srgbClr val="D64545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302752" y="21671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8878824" y="2167128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22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Containment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8302752" y="2743200"/>
            <a:ext cx="311810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Stopping the attack from spreading further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4389120"/>
            <a:ext cx="352044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E2E5EA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49808" y="4590288"/>
            <a:ext cx="457200" cy="457200"/>
          </a:xfrm>
          <a:prstGeom prst="ellipse">
            <a:avLst/>
          </a:prstGeom>
          <a:solidFill>
            <a:srgbClr val="D64545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49808" y="45902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1325880" y="4590288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22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Eradication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749808" y="5166360"/>
            <a:ext cx="311810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Removing the actual threat from the environment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325112" y="4389120"/>
            <a:ext cx="352044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E2E5EA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26280" y="4590288"/>
            <a:ext cx="457200" cy="457200"/>
          </a:xfrm>
          <a:prstGeom prst="ellipse">
            <a:avLst/>
          </a:prstGeom>
          <a:solidFill>
            <a:srgbClr val="1B1F3B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4526280" y="45902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7" name="Text 25"/>
          <p:cNvSpPr txBox="1"/>
          <p:nvPr/>
        </p:nvSpPr>
        <p:spPr>
          <a:xfrm>
            <a:off x="5102352" y="4590288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22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4526280" y="5166360"/>
            <a:ext cx="311810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Restoring systems safely and confirming they're clean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8101584" y="4389120"/>
            <a:ext cx="352044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E2E5EA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302752" y="4590288"/>
            <a:ext cx="457200" cy="457200"/>
          </a:xfrm>
          <a:prstGeom prst="ellipse">
            <a:avLst/>
          </a:prstGeom>
          <a:solidFill>
            <a:srgbClr val="1B1F3B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8302752" y="45902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32" name="Text 30"/>
          <p:cNvSpPr txBox="1"/>
          <p:nvPr/>
        </p:nvSpPr>
        <p:spPr>
          <a:xfrm>
            <a:off x="8878824" y="4590288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22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Lessons Learned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8302752" y="5166360"/>
            <a:ext cx="311810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Documenting the incident to improve for next time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10896"/>
            <a:ext cx="10515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800"/>
              </a:lnSpc>
              <a:buNone/>
            </a:pPr>
            <a:r>
              <a:rPr lang="en-US" sz="1300" b="1" dirty="0">
                <a:solidFill>
                  <a:srgbClr val="D64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2</a:t>
            </a:r>
            <a:endParaRPr lang="en-US" sz="1300" dirty="0"/>
          </a:p>
          <a:p>
            <a:pPr marL="0" indent="0">
              <a:lnSpc>
                <a:spcPts val="2800"/>
              </a:lnSpc>
              <a:buNone/>
            </a:pPr>
            <a:r>
              <a:rPr lang="en-US" sz="2800" b="1" dirty="0">
                <a:solidFill>
                  <a:srgbClr val="2226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Real-World Case Study: Conti Ransomware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70432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MITRE ATT&amp;CK Software ID: </a:t>
            </a:r>
            <a:r>
              <a:rPr lang="en-US" sz="1400" b="1" dirty="0">
                <a:solidFill>
                  <a:srgbClr val="22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S0575</a:t>
            </a: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Group: </a:t>
            </a:r>
            <a:r>
              <a:rPr lang="en-US" sz="1400" b="1" dirty="0">
                <a:solidFill>
                  <a:srgbClr val="22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Wizard Spider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39496" y="1965960"/>
            <a:ext cx="1965960" cy="1371600"/>
          </a:xfrm>
          <a:prstGeom prst="roundRect">
            <a:avLst>
              <a:gd name="adj" fmla="val 4667"/>
            </a:avLst>
          </a:prstGeom>
          <a:solidFill>
            <a:srgbClr val="1B1F3B"/>
          </a:solidFill>
          <a:ln/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12648" y="2075688"/>
            <a:ext cx="18196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Access &amp;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612648" y="2953512"/>
            <a:ext cx="18196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9DE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T1083 · T1135 · T1057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2505456" y="1965960"/>
            <a:ext cx="320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2825496" y="1965960"/>
            <a:ext cx="1965960" cy="1371600"/>
          </a:xfrm>
          <a:prstGeom prst="roundRect">
            <a:avLst>
              <a:gd name="adj" fmla="val 4667"/>
            </a:avLst>
          </a:prstGeom>
          <a:solidFill>
            <a:srgbClr val="1B1F3B"/>
          </a:solidFill>
          <a:ln/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2898648" y="2075688"/>
            <a:ext cx="18196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Lateral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Movement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2898648" y="2953512"/>
            <a:ext cx="18196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9DE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T1021.002 · T1080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4791456" y="1965960"/>
            <a:ext cx="320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5111496" y="1965960"/>
            <a:ext cx="1965960" cy="1371600"/>
          </a:xfrm>
          <a:prstGeom prst="roundRect">
            <a:avLst>
              <a:gd name="adj" fmla="val 4667"/>
            </a:avLst>
          </a:prstGeom>
          <a:solidFill>
            <a:srgbClr val="1B1F3B"/>
          </a:solidFill>
          <a:ln/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5184648" y="2075688"/>
            <a:ext cx="18196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Defense Evasion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5184648" y="2953512"/>
            <a:ext cx="18196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9DE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T1027 · T1140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7077456" y="1965960"/>
            <a:ext cx="320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7397496" y="1965960"/>
            <a:ext cx="1965960" cy="1371600"/>
          </a:xfrm>
          <a:prstGeom prst="roundRect">
            <a:avLst>
              <a:gd name="adj" fmla="val 4667"/>
            </a:avLst>
          </a:prstGeom>
          <a:solidFill>
            <a:srgbClr val="1B1F3B"/>
          </a:solidFill>
          <a:ln/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7470648" y="2075688"/>
            <a:ext cx="18196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Disable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 &amp; Defenses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7470648" y="2953512"/>
            <a:ext cx="18196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9DE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T1489 · T1490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9363456" y="1965960"/>
            <a:ext cx="320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9683496" y="1965960"/>
            <a:ext cx="1965960" cy="1371600"/>
          </a:xfrm>
          <a:prstGeom prst="roundRect">
            <a:avLst>
              <a:gd name="adj" fmla="val 4667"/>
            </a:avLst>
          </a:prstGeom>
          <a:solidFill>
            <a:srgbClr val="D64545"/>
          </a:solidFill>
          <a:ln/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9756648" y="2075688"/>
            <a:ext cx="18196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 &amp; Extort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9756648" y="2953512"/>
            <a:ext cx="18196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9DE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T1486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48640" y="3794760"/>
            <a:ext cx="108813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2E5EA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22960" y="39776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stage (T1486)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822960" y="434340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AES-256 encryption per file + unique RSA-4096 key per victim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4206240" y="39776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Stop (T1489)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4206240" y="434340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Kills 146+ security, backup, database &amp; email services before encrypting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7589520" y="39776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Inhibit Recovery (T1490)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7589520" y="434340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Deletes Windows Volume Shadow Copies via vssadmin to block restore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548640" y="5440680"/>
            <a:ext cx="10881360" cy="777240"/>
          </a:xfrm>
          <a:prstGeom prst="roundRect">
            <a:avLst>
              <a:gd name="adj" fmla="val 9412"/>
            </a:avLst>
          </a:prstGeom>
          <a:solidFill>
            <a:srgbClr val="FCEAEA"/>
          </a:solidFill>
          <a:ln w="12700">
            <a:solidFill>
              <a:srgbClr val="D64545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22960" y="5440680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precedent:  </a:t>
            </a:r>
            <a:r>
              <a:rPr lang="en-US" sz="1250" dirty="0">
                <a:solidFill>
                  <a:srgbClr val="22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 was used in the 2021 ransomware attack on Ireland's Health Service Executive (HSE), which shut down an entire national healthcare IT network.</a:t>
            </a:r>
            <a:endParaRPr lang="en-US" sz="1250" dirty="0"/>
          </a:p>
        </p:txBody>
      </p:sp>
      <p:sp>
        <p:nvSpPr>
          <p:cNvPr id="32" name="Text 30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MITRE ATT&amp;CK — attack.mitre.org/software/S0575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515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800"/>
              </a:lnSpc>
              <a:buNone/>
            </a:pPr>
            <a:r>
              <a:rPr lang="en-US" sz="1300" b="1" dirty="0">
                <a:solidFill>
                  <a:srgbClr val="D64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3</a:t>
            </a:r>
            <a:endParaRPr lang="en-US" sz="1300" dirty="0"/>
          </a:p>
          <a:p>
            <a:pPr marL="0" indent="0">
              <a:lnSpc>
                <a:spcPts val="2800"/>
              </a:lnSpc>
              <a:buNone/>
            </a:pPr>
            <a:r>
              <a:rPr lang="en-US" sz="2800" b="1" dirty="0">
                <a:solidFill>
                  <a:srgbClr val="2226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Simulated Ransomware Scenario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07008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“Operation Frozen Ledger” — a realistic attack timeline built on Conti's documented techniques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2313432" y="1920240"/>
            <a:ext cx="36576" cy="3794760"/>
          </a:xfrm>
          <a:prstGeom prst="rect">
            <a:avLst/>
          </a:prstGeom>
          <a:solidFill>
            <a:srgbClr val="D7DBE3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365760" y="173736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3E5C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0</a:t>
            </a:r>
            <a:endParaRPr lang="en-US" sz="1100" dirty="0"/>
          </a:p>
          <a:p>
            <a:pPr marL="0" indent="0" algn="r">
              <a:buNone/>
            </a:pPr>
            <a:r>
              <a:rPr lang="en-US" sz="1100" b="1" dirty="0">
                <a:solidFill>
                  <a:srgbClr val="3E5C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9:14 AM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212848" y="1801368"/>
            <a:ext cx="237744" cy="237744"/>
          </a:xfrm>
          <a:prstGeom prst="ellipse">
            <a:avLst/>
          </a:prstGeom>
          <a:solidFill>
            <a:srgbClr val="1B1F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651760" y="1709928"/>
            <a:ext cx="630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attachment opened in Finance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8641080" y="1709928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Initial Access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365760" y="2496312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3E5C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0–1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212848" y="2560320"/>
            <a:ext cx="237744" cy="237744"/>
          </a:xfrm>
          <a:prstGeom prst="ellipse">
            <a:avLst/>
          </a:prstGeom>
          <a:solidFill>
            <a:srgbClr val="1B1F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651760" y="2468880"/>
            <a:ext cx="630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Silent network, file &amp; share discovery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8641080" y="246888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T1083 · T1135 · T1057 · T1018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365760" y="3255264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3E5C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</a:t>
            </a:r>
            <a:endParaRPr lang="en-US" sz="1100" dirty="0"/>
          </a:p>
          <a:p>
            <a:pPr marL="0" indent="0" algn="r">
              <a:buNone/>
            </a:pPr>
            <a:r>
              <a:rPr lang="en-US" sz="1100" b="1" dirty="0">
                <a:solidFill>
                  <a:srgbClr val="3E5C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11:40 PM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212848" y="3319272"/>
            <a:ext cx="237744" cy="237744"/>
          </a:xfrm>
          <a:prstGeom prst="ellipse">
            <a:avLst/>
          </a:prstGeom>
          <a:solidFill>
            <a:srgbClr val="1B1F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2651760" y="3227832"/>
            <a:ext cx="630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Lateral movement to file server via SMB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8641080" y="3227832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T1021.002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365760" y="4014216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3E5C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</a:t>
            </a:r>
            <a:endParaRPr lang="en-US" sz="1100" dirty="0"/>
          </a:p>
          <a:p>
            <a:pPr marL="0" indent="0" algn="r">
              <a:buNone/>
            </a:pPr>
            <a:r>
              <a:rPr lang="en-US" sz="1100" b="1" dirty="0">
                <a:solidFill>
                  <a:srgbClr val="3E5C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12:10–12:45 AM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212848" y="4078224"/>
            <a:ext cx="237744" cy="237744"/>
          </a:xfrm>
          <a:prstGeom prst="ellipse">
            <a:avLst/>
          </a:prstGeom>
          <a:solidFill>
            <a:srgbClr val="1B1F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2651760" y="3986784"/>
            <a:ext cx="630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Evasion, security services stopped, shadow copies deleted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8641080" y="3986784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T1027 · T1140 · T1489 · T1490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365760" y="4773168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3E5C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</a:t>
            </a:r>
            <a:endParaRPr lang="en-US" sz="1100" dirty="0"/>
          </a:p>
          <a:p>
            <a:pPr marL="0" indent="0" algn="r">
              <a:buNone/>
            </a:pPr>
            <a:r>
              <a:rPr lang="en-US" sz="1100" b="1" dirty="0">
                <a:solidFill>
                  <a:srgbClr val="3E5C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1:00 AM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212848" y="4837176"/>
            <a:ext cx="237744" cy="237744"/>
          </a:xfrm>
          <a:prstGeom prst="ellipse">
            <a:avLst/>
          </a:prstGeom>
          <a:solidFill>
            <a:srgbClr val="1B1F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2651760" y="4745736"/>
            <a:ext cx="630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 encrypted — AES-256 + unique RSA-4096 key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8641080" y="4745736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T1486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365760" y="553212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3E5C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</a:t>
            </a:r>
            <a:endParaRPr lang="en-US" sz="1100" dirty="0"/>
          </a:p>
          <a:p>
            <a:pPr marL="0" indent="0" algn="r">
              <a:buNone/>
            </a:pPr>
            <a:r>
              <a:rPr lang="en-US" sz="1100" b="1" dirty="0">
                <a:solidFill>
                  <a:srgbClr val="3E5C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6:45 AM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212848" y="5596128"/>
            <a:ext cx="237744" cy="237744"/>
          </a:xfrm>
          <a:prstGeom prst="ellipse">
            <a:avLst/>
          </a:prstGeom>
          <a:solidFill>
            <a:srgbClr val="D64545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2651760" y="5504688"/>
            <a:ext cx="630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Ransom note discovered by IT staff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8641080" y="5504688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Impact realized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48640" y="6263640"/>
            <a:ext cx="10881360" cy="502920"/>
          </a:xfrm>
          <a:prstGeom prst="roundRect">
            <a:avLst>
              <a:gd name="adj" fmla="val 10909"/>
            </a:avLst>
          </a:prstGeom>
          <a:solidFill>
            <a:srgbClr val="FCEAEA"/>
          </a:solidFill>
          <a:ln w="12700">
            <a:solidFill>
              <a:srgbClr val="D64545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777240" y="6263640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 </a:t>
            </a:r>
            <a:r>
              <a:rPr lang="en-US" sz="1150" dirty="0">
                <a:solidFill>
                  <a:srgbClr val="22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a full day of dwell time before encryption — exactly what Detection &amp; Analysis is designed to catch.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789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800"/>
              </a:lnSpc>
              <a:buNone/>
            </a:pPr>
            <a:r>
              <a:rPr lang="en-US" sz="1300" b="1" dirty="0">
                <a:solidFill>
                  <a:srgbClr val="D64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4</a:t>
            </a:r>
            <a:endParaRPr lang="en-US" sz="1300" dirty="0"/>
          </a:p>
          <a:p>
            <a:pPr marL="0" indent="0">
              <a:lnSpc>
                <a:spcPts val="2800"/>
              </a:lnSpc>
              <a:buNone/>
            </a:pPr>
            <a:r>
              <a:rPr lang="en-US" sz="2800" b="1" dirty="0">
                <a:solidFill>
                  <a:srgbClr val="2226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Response Procedures — Part 1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07008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the timeline into concrete, actionable steps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2148840"/>
            <a:ext cx="3520440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E2E5EA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68096" y="2368296"/>
            <a:ext cx="420624" cy="420624"/>
          </a:xfrm>
          <a:prstGeom prst="ellipse">
            <a:avLst/>
          </a:prstGeom>
          <a:solidFill>
            <a:srgbClr val="3E5C7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68096" y="236829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325880" y="2368296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2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Preparation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768096" y="2971800"/>
            <a:ext cx="3081528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Immutable, offline backups</a:t>
            </a:r>
            <a:endParaRPr lang="en-US" sz="12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EDR deployed on all endpoints</a:t>
            </a:r>
            <a:endParaRPr lang="en-US" sz="12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Least-privilege SMB access</a:t>
            </a:r>
            <a:endParaRPr lang="en-US" sz="12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 phishing-awareness training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25112" y="2148840"/>
            <a:ext cx="3520440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E2E5EA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44568" y="2368296"/>
            <a:ext cx="420624" cy="420624"/>
          </a:xfrm>
          <a:prstGeom prst="ellipse">
            <a:avLst/>
          </a:prstGeom>
          <a:solidFill>
            <a:srgbClr val="3E5C7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544568" y="236829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5102352" y="2368296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2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&amp; Analysis</a:t>
            </a:r>
            <a:endParaRPr lang="en-US" sz="1450" dirty="0"/>
          </a:p>
        </p:txBody>
      </p:sp>
      <p:sp>
        <p:nvSpPr>
          <p:cNvPr id="13" name="Text 11"/>
          <p:cNvSpPr txBox="1"/>
          <p:nvPr/>
        </p:nvSpPr>
        <p:spPr>
          <a:xfrm>
            <a:off x="4544568" y="2971800"/>
            <a:ext cx="3081528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on net stop &amp; vssadmin commands</a:t>
            </a:r>
            <a:endParaRPr lang="en-US" sz="12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unusual SMB auth patterns</a:t>
            </a:r>
            <a:endParaRPr lang="en-US" sz="12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incident before escalating</a:t>
            </a:r>
            <a:endParaRPr lang="en-US" sz="12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severity (multi-host = P1)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101584" y="2148840"/>
            <a:ext cx="3520440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E2E5EA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321040" y="2368296"/>
            <a:ext cx="420624" cy="420624"/>
          </a:xfrm>
          <a:prstGeom prst="ellipse">
            <a:avLst/>
          </a:prstGeom>
          <a:solidFill>
            <a:srgbClr val="D64545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321040" y="236829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8878824" y="2368296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2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Containment</a:t>
            </a:r>
            <a:endParaRPr lang="en-US" sz="1450" dirty="0"/>
          </a:p>
        </p:txBody>
      </p:sp>
      <p:sp>
        <p:nvSpPr>
          <p:cNvPr id="18" name="Text 16"/>
          <p:cNvSpPr txBox="1"/>
          <p:nvPr/>
        </p:nvSpPr>
        <p:spPr>
          <a:xfrm>
            <a:off x="8321040" y="2971800"/>
            <a:ext cx="3081528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Isolate infected hosts immediately</a:t>
            </a:r>
            <a:endParaRPr lang="en-US" sz="12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Disable compromised accounts</a:t>
            </a:r>
            <a:endParaRPr lang="en-US" sz="12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command-and-control traffic</a:t>
            </a:r>
            <a:endParaRPr lang="en-US" sz="12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 network long-term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4937760"/>
            <a:ext cx="10881360" cy="1371600"/>
          </a:xfrm>
          <a:prstGeom prst="roundRect">
            <a:avLst>
              <a:gd name="adj" fmla="val 5333"/>
            </a:avLst>
          </a:prstGeom>
          <a:solidFill>
            <a:srgbClr val="1B1F3B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914400" y="4937760"/>
            <a:ext cx="10149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4E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three phases map directly onto the scenario: Preparation would have caught the phishing lure, Detection should have flagged the net stop and vssadmin commands, and Containment stops the spread before more hosts are hit.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789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800"/>
              </a:lnSpc>
              <a:buNone/>
            </a:pPr>
            <a:r>
              <a:rPr lang="en-US" sz="1300" b="1" dirty="0">
                <a:solidFill>
                  <a:srgbClr val="D64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4</a:t>
            </a:r>
            <a:endParaRPr lang="en-US" sz="1300" dirty="0"/>
          </a:p>
          <a:p>
            <a:pPr marL="0" indent="0">
              <a:lnSpc>
                <a:spcPts val="2800"/>
              </a:lnSpc>
              <a:buNone/>
            </a:pPr>
            <a:r>
              <a:rPr lang="en-US" sz="2800" b="1" dirty="0">
                <a:solidFill>
                  <a:srgbClr val="2226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Response Procedures — Part 2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07008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Removing the threat and closing the loop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2148840"/>
            <a:ext cx="3520440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E2E5EA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68096" y="2368296"/>
            <a:ext cx="420624" cy="420624"/>
          </a:xfrm>
          <a:prstGeom prst="ellipse">
            <a:avLst/>
          </a:prstGeom>
          <a:solidFill>
            <a:srgbClr val="D64545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68096" y="236829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325880" y="2368296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2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Eradication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768096" y="2971800"/>
            <a:ext cx="3081528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loader &amp; persistence</a:t>
            </a:r>
            <a:endParaRPr lang="en-US" sz="12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entire environment for IOCs</a:t>
            </a:r>
            <a:endParaRPr lang="en-US" sz="12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initial entry vector</a:t>
            </a:r>
            <a:endParaRPr lang="en-US" sz="12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Reset all touched credentials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25112" y="2148840"/>
            <a:ext cx="3520440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E2E5EA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44568" y="2368296"/>
            <a:ext cx="420624" cy="420624"/>
          </a:xfrm>
          <a:prstGeom prst="ellipse">
            <a:avLst/>
          </a:prstGeom>
          <a:solidFill>
            <a:srgbClr val="1B1F3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544568" y="236829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5102352" y="2368296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2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</a:t>
            </a:r>
            <a:endParaRPr lang="en-US" sz="1450" dirty="0"/>
          </a:p>
        </p:txBody>
      </p:sp>
      <p:sp>
        <p:nvSpPr>
          <p:cNvPr id="13" name="Text 11"/>
          <p:cNvSpPr txBox="1"/>
          <p:nvPr/>
        </p:nvSpPr>
        <p:spPr>
          <a:xfrm>
            <a:off x="4544568" y="2971800"/>
            <a:ext cx="3081528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Restore from verified offline backups</a:t>
            </a:r>
            <a:endParaRPr lang="en-US" sz="12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Rebuild from clean images</a:t>
            </a:r>
            <a:endParaRPr lang="en-US" sz="12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rollout with monitoring</a:t>
            </a:r>
            <a:endParaRPr lang="en-US" sz="12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no residual activity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101584" y="2148840"/>
            <a:ext cx="3520440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E2E5EA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321040" y="2368296"/>
            <a:ext cx="420624" cy="420624"/>
          </a:xfrm>
          <a:prstGeom prst="ellipse">
            <a:avLst/>
          </a:prstGeom>
          <a:solidFill>
            <a:srgbClr val="1B1F3B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321040" y="236829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8878824" y="2368296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2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Lessons Learned</a:t>
            </a:r>
            <a:endParaRPr lang="en-US" sz="1450" dirty="0"/>
          </a:p>
        </p:txBody>
      </p:sp>
      <p:sp>
        <p:nvSpPr>
          <p:cNvPr id="18" name="Text 16"/>
          <p:cNvSpPr txBox="1"/>
          <p:nvPr/>
        </p:nvSpPr>
        <p:spPr>
          <a:xfrm>
            <a:off x="8321040" y="2971800"/>
            <a:ext cx="3081528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Post-incident review within 5 days</a:t>
            </a:r>
            <a:endParaRPr lang="en-US" sz="12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timeline as case study</a:t>
            </a:r>
            <a:endParaRPr lang="en-US" sz="12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phishing training</a:t>
            </a:r>
            <a:endParaRPr lang="en-US" sz="12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Revisit segmentation policies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4937760"/>
            <a:ext cx="10881360" cy="1371600"/>
          </a:xfrm>
          <a:prstGeom prst="roundRect">
            <a:avLst>
              <a:gd name="adj" fmla="val 5333"/>
            </a:avLst>
          </a:prstGeom>
          <a:solidFill>
            <a:srgbClr val="1B1F3B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914400" y="4937760"/>
            <a:ext cx="10149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4E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Together these three phases remove the threat, safely restore operations, and turn the incident into concrete improvements — closing the loop back to Preparation.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789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800"/>
              </a:lnSpc>
              <a:buNone/>
            </a:pPr>
            <a:r>
              <a:rPr lang="en-US" sz="1300" b="1" dirty="0">
                <a:solidFill>
                  <a:srgbClr val="D64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5</a:t>
            </a:r>
            <a:endParaRPr lang="en-US" sz="1300" dirty="0"/>
          </a:p>
          <a:p>
            <a:pPr marL="0" indent="0">
              <a:lnSpc>
                <a:spcPts val="2800"/>
              </a:lnSpc>
              <a:buNone/>
            </a:pPr>
            <a:r>
              <a:rPr lang="en-US" sz="2800" b="1" dirty="0">
                <a:solidFill>
                  <a:srgbClr val="2226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Staff Emergency Response &amp; Prevention Guide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07008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Plain-language guidance for every employee, not just IT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2148840"/>
            <a:ext cx="3520440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E2E5EA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68096" y="2368296"/>
            <a:ext cx="420624" cy="420624"/>
          </a:xfrm>
          <a:prstGeom prst="ellipse">
            <a:avLst/>
          </a:prstGeom>
          <a:solidFill>
            <a:srgbClr val="D64545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68096" y="236829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325880" y="2368296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2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 It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768096" y="2971800"/>
            <a:ext cx="3081528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Unexpected attachment, link, or urgent request</a:t>
            </a:r>
            <a:endParaRPr lang="en-US" sz="12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Pop-ups, locked files, or a ransom note</a:t>
            </a:r>
            <a:endParaRPr lang="en-US" sz="12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Unusual logins or password reset emails</a:t>
            </a:r>
            <a:endParaRPr lang="en-US" sz="12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unsure, don’t click — ask first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25112" y="2148840"/>
            <a:ext cx="3520440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E2E5EA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44568" y="2368296"/>
            <a:ext cx="420624" cy="420624"/>
          </a:xfrm>
          <a:prstGeom prst="ellipse">
            <a:avLst/>
          </a:prstGeom>
          <a:solidFill>
            <a:srgbClr val="1B1F3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544568" y="236829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5102352" y="2368296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2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It</a:t>
            </a:r>
            <a:endParaRPr lang="en-US" sz="1450" dirty="0"/>
          </a:p>
        </p:txBody>
      </p:sp>
      <p:sp>
        <p:nvSpPr>
          <p:cNvPr id="13" name="Text 11"/>
          <p:cNvSpPr txBox="1"/>
          <p:nvPr/>
        </p:nvSpPr>
        <p:spPr>
          <a:xfrm>
            <a:off x="4544568" y="2971800"/>
            <a:ext cx="3081528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IT/security immediately</a:t>
            </a:r>
            <a:endParaRPr lang="en-US" sz="12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try to fix it yourself</a:t>
            </a:r>
            <a:endParaRPr lang="en-US" sz="12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power off or wipe the device</a:t>
            </a:r>
            <a:endParaRPr lang="en-US" sz="12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 what you saw and when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101584" y="2148840"/>
            <a:ext cx="3520440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E2E5EA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321040" y="2368296"/>
            <a:ext cx="420624" cy="420624"/>
          </a:xfrm>
          <a:prstGeom prst="ellipse">
            <a:avLst/>
          </a:prstGeom>
          <a:solidFill>
            <a:srgbClr val="1B1F3B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321040" y="236829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8878824" y="2368296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2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 It</a:t>
            </a:r>
            <a:endParaRPr lang="en-US" sz="1450" dirty="0"/>
          </a:p>
        </p:txBody>
      </p:sp>
      <p:sp>
        <p:nvSpPr>
          <p:cNvPr id="18" name="Text 16"/>
          <p:cNvSpPr txBox="1"/>
          <p:nvPr/>
        </p:nvSpPr>
        <p:spPr>
          <a:xfrm>
            <a:off x="8321040" y="2971800"/>
            <a:ext cx="3081528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sender before opening attachments</a:t>
            </a:r>
            <a:endParaRPr lang="en-US" sz="12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MFA on every account</a:t>
            </a:r>
            <a:endParaRPr lang="en-US" sz="12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reuse passwords across systems</a:t>
            </a:r>
            <a:endParaRPr lang="en-US" sz="12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 phishing-awareness training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4937760"/>
            <a:ext cx="10881360" cy="1371600"/>
          </a:xfrm>
          <a:prstGeom prst="roundRect">
            <a:avLst>
              <a:gd name="adj" fmla="val 5333"/>
            </a:avLst>
          </a:prstGeom>
          <a:solidFill>
            <a:srgbClr val="1B1F3B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914400" y="4937760"/>
            <a:ext cx="10149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4E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employee is part of the defense: the faster an incident is reported, the shorter the attacker’s dwell time and the smaller the damage.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789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800"/>
              </a:lnSpc>
              <a:buNone/>
            </a:pPr>
            <a:r>
              <a:rPr lang="en-US" sz="1300" b="1" dirty="0">
                <a:solidFill>
                  <a:srgbClr val="D64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6</a:t>
            </a:r>
            <a:endParaRPr lang="en-US" sz="1300" dirty="0"/>
          </a:p>
          <a:p>
            <a:pPr marL="0" indent="0">
              <a:lnSpc>
                <a:spcPts val="2800"/>
              </a:lnSpc>
              <a:buNone/>
            </a:pPr>
            <a:r>
              <a:rPr lang="en-US" sz="2800" b="1" dirty="0">
                <a:solidFill>
                  <a:srgbClr val="2226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 &amp; Conclusion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07008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exercise confirms about incident readiness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2148840"/>
            <a:ext cx="3520440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E2E5EA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68096" y="2368296"/>
            <a:ext cx="420624" cy="420624"/>
          </a:xfrm>
          <a:prstGeom prst="ellipse">
            <a:avLst/>
          </a:prstGeom>
          <a:solidFill>
            <a:srgbClr val="D64545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68096" y="236829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325880" y="2368296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2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Speed Matters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768096" y="2971800"/>
            <a:ext cx="3081528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24 hours of dwell time before impact</a:t>
            </a:r>
            <a:endParaRPr lang="en-US" sz="12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detection shrinks the blast radius</a:t>
            </a:r>
            <a:endParaRPr lang="en-US" sz="12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Alerting on net stop &amp; vssadmin is critical</a:t>
            </a:r>
            <a:endParaRPr lang="en-US" sz="12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Prevention alone is not enough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25112" y="2148840"/>
            <a:ext cx="3520440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E2E5EA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44568" y="2368296"/>
            <a:ext cx="420624" cy="420624"/>
          </a:xfrm>
          <a:prstGeom prst="ellipse">
            <a:avLst/>
          </a:prstGeom>
          <a:solidFill>
            <a:srgbClr val="1B1F3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544568" y="236829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5102352" y="2368296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2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Framework Works</a:t>
            </a:r>
            <a:endParaRPr lang="en-US" sz="1450" dirty="0"/>
          </a:p>
        </p:txBody>
      </p:sp>
      <p:sp>
        <p:nvSpPr>
          <p:cNvPr id="13" name="Text 11"/>
          <p:cNvSpPr txBox="1"/>
          <p:nvPr/>
        </p:nvSpPr>
        <p:spPr>
          <a:xfrm>
            <a:off x="4544568" y="2971800"/>
            <a:ext cx="3081528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NIST 6-phase model held up against a real threat</a:t>
            </a:r>
            <a:endParaRPr lang="en-US" sz="12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phase mapped to a concrete, actionable step</a:t>
            </a:r>
            <a:endParaRPr lang="en-US" sz="12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MITRE ATT&amp;CK grounded the plan in reality</a:t>
            </a:r>
            <a:endParaRPr lang="en-US" sz="12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guide closed the human-layer gap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101584" y="2148840"/>
            <a:ext cx="3520440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E2E5EA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321040" y="2368296"/>
            <a:ext cx="420624" cy="420624"/>
          </a:xfrm>
          <a:prstGeom prst="ellipse">
            <a:avLst/>
          </a:prstGeom>
          <a:solidFill>
            <a:srgbClr val="1B1F3B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321040" y="236829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8878824" y="2368296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2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Improvement</a:t>
            </a:r>
            <a:endParaRPr lang="en-US" sz="1450" dirty="0"/>
          </a:p>
        </p:txBody>
      </p:sp>
      <p:sp>
        <p:nvSpPr>
          <p:cNvPr id="18" name="Text 16"/>
          <p:cNvSpPr txBox="1"/>
          <p:nvPr/>
        </p:nvSpPr>
        <p:spPr>
          <a:xfrm>
            <a:off x="8321040" y="2971800"/>
            <a:ext cx="3081528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Lessons Learned feeds back into Preparation</a:t>
            </a:r>
            <a:endParaRPr lang="en-US" sz="12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training &amp; segmentation regularly</a:t>
            </a:r>
            <a:endParaRPr lang="en-US" sz="12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response is a cycle, not a one-off</a:t>
            </a:r>
            <a:endParaRPr lang="en-US" sz="12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Readiness is tested and refined, never final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4937760"/>
            <a:ext cx="10881360" cy="1371600"/>
          </a:xfrm>
          <a:prstGeom prst="roundRect">
            <a:avLst>
              <a:gd name="adj" fmla="val 5333"/>
            </a:avLst>
          </a:prstGeom>
          <a:solidFill>
            <a:srgbClr val="1B1F3B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914400" y="4937760"/>
            <a:ext cx="10149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4E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plan turns Conti’s real-world techniques into a practical playbook — from prevention through recovery — that Internee.pk can actually follow.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852</Words>
  <Application>Microsoft Office PowerPoint</Application>
  <PresentationFormat>Widescreen</PresentationFormat>
  <Paragraphs>173</Paragraphs>
  <Slides>8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Cambria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Meerab Munir</cp:lastModifiedBy>
  <cp:revision>2</cp:revision>
  <dcterms:created xsi:type="dcterms:W3CDTF">2026-09-18T09:58:11Z</dcterms:created>
  <dcterms:modified xsi:type="dcterms:W3CDTF">2026-09-18T10:37:00Z</dcterms:modified>
</cp:coreProperties>
</file>